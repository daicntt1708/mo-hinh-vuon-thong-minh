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webp" ContentType="image/webp"/>
  <Override PartName="/ppt/media/image5.webp" ContentType="image/webp"/>
  <Override PartName="/ppt/media/image7.webp" ContentType="image/webp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8803600" cy="446227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065" userDrawn="1">
          <p15:clr>
            <a:srgbClr val="A4A3A4"/>
          </p15:clr>
        </p15:guide>
        <p15:guide id="2" pos="9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3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704" y="24"/>
      </p:cViewPr>
      <p:guideLst>
        <p:guide orient="horz" pos="14065"/>
        <p:guide pos="90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270" y="7302894"/>
            <a:ext cx="24483060" cy="15535428"/>
          </a:xfrm>
        </p:spPr>
        <p:txBody>
          <a:bodyPr anchor="b"/>
          <a:lstStyle>
            <a:lvl1pPr algn="ctr"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450" y="23437428"/>
            <a:ext cx="21602700" cy="10773568"/>
          </a:xfrm>
        </p:spPr>
        <p:txBody>
          <a:bodyPr/>
          <a:lstStyle>
            <a:lvl1pPr marL="0" indent="0" algn="ctr">
              <a:buNone/>
              <a:defRPr sz="7560"/>
            </a:lvl1pPr>
            <a:lvl2pPr marL="1440180" indent="0" algn="ctr">
              <a:buNone/>
              <a:defRPr sz="6300"/>
            </a:lvl2pPr>
            <a:lvl3pPr marL="2880360" indent="0" algn="ctr">
              <a:buNone/>
              <a:defRPr sz="5670"/>
            </a:lvl3pPr>
            <a:lvl4pPr marL="4320540" indent="0" algn="ctr">
              <a:buNone/>
              <a:defRPr sz="5040"/>
            </a:lvl4pPr>
            <a:lvl5pPr marL="5760720" indent="0" algn="ctr">
              <a:buNone/>
              <a:defRPr sz="5040"/>
            </a:lvl5pPr>
            <a:lvl6pPr marL="7200900" indent="0" algn="ctr">
              <a:buNone/>
              <a:defRPr sz="5040"/>
            </a:lvl6pPr>
            <a:lvl7pPr marL="8641080" indent="0" algn="ctr">
              <a:buNone/>
              <a:defRPr sz="5040"/>
            </a:lvl7pPr>
            <a:lvl8pPr marL="10081260" indent="0" algn="ctr">
              <a:buNone/>
              <a:defRPr sz="5040"/>
            </a:lvl8pPr>
            <a:lvl9pPr marL="11521440" indent="0" algn="ctr">
              <a:buNone/>
              <a:defRPr sz="5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247" y="11124784"/>
            <a:ext cx="24843105" cy="18561941"/>
          </a:xfrm>
        </p:spPr>
        <p:txBody>
          <a:bodyPr anchor="b"/>
          <a:lstStyle>
            <a:lvl1pPr>
              <a:defRPr sz="18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247" y="29862329"/>
            <a:ext cx="24843105" cy="9761286"/>
          </a:xfrm>
        </p:spPr>
        <p:txBody>
          <a:bodyPr/>
          <a:lstStyle>
            <a:lvl1pPr marL="0" indent="0">
              <a:buNone/>
              <a:defRPr sz="7560">
                <a:solidFill>
                  <a:schemeClr val="tx1"/>
                </a:solidFill>
              </a:defRPr>
            </a:lvl1pPr>
            <a:lvl2pPr marL="1440180" indent="0">
              <a:buNone/>
              <a:defRPr sz="6300">
                <a:solidFill>
                  <a:schemeClr val="tx1">
                    <a:tint val="75000"/>
                  </a:schemeClr>
                </a:solidFill>
              </a:defRPr>
            </a:lvl2pPr>
            <a:lvl3pPr marL="2880360" indent="0">
              <a:buNone/>
              <a:defRPr sz="5670">
                <a:solidFill>
                  <a:schemeClr val="tx1">
                    <a:tint val="75000"/>
                  </a:schemeClr>
                </a:solidFill>
              </a:defRPr>
            </a:lvl3pPr>
            <a:lvl4pPr marL="43205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4pPr>
            <a:lvl5pPr marL="576072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5pPr>
            <a:lvl6pPr marL="720090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6pPr>
            <a:lvl7pPr marL="864108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7pPr>
            <a:lvl8pPr marL="1008126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8pPr>
            <a:lvl9pPr marL="1152144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248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1823" y="11878818"/>
            <a:ext cx="12241530" cy="283129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375773"/>
            <a:ext cx="24843105" cy="86250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4002" y="10938845"/>
            <a:ext cx="12185271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4002" y="16299804"/>
            <a:ext cx="12185271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1824" y="10938845"/>
            <a:ext cx="12245282" cy="5360959"/>
          </a:xfrm>
        </p:spPr>
        <p:txBody>
          <a:bodyPr anchor="b"/>
          <a:lstStyle>
            <a:lvl1pPr marL="0" indent="0">
              <a:buNone/>
              <a:defRPr sz="7560" b="1"/>
            </a:lvl1pPr>
            <a:lvl2pPr marL="1440180" indent="0">
              <a:buNone/>
              <a:defRPr sz="6300" b="1"/>
            </a:lvl2pPr>
            <a:lvl3pPr marL="2880360" indent="0">
              <a:buNone/>
              <a:defRPr sz="5670" b="1"/>
            </a:lvl3pPr>
            <a:lvl4pPr marL="4320540" indent="0">
              <a:buNone/>
              <a:defRPr sz="5040" b="1"/>
            </a:lvl4pPr>
            <a:lvl5pPr marL="5760720" indent="0">
              <a:buNone/>
              <a:defRPr sz="5040" b="1"/>
            </a:lvl5pPr>
            <a:lvl6pPr marL="7200900" indent="0">
              <a:buNone/>
              <a:defRPr sz="5040" b="1"/>
            </a:lvl6pPr>
            <a:lvl7pPr marL="8641080" indent="0">
              <a:buNone/>
              <a:defRPr sz="5040" b="1"/>
            </a:lvl7pPr>
            <a:lvl8pPr marL="10081260" indent="0">
              <a:buNone/>
              <a:defRPr sz="5040" b="1"/>
            </a:lvl8pPr>
            <a:lvl9pPr marL="11521440" indent="0">
              <a:buNone/>
              <a:defRPr sz="504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1824" y="16299804"/>
            <a:ext cx="12245282" cy="239745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5281" y="6424901"/>
            <a:ext cx="14581823" cy="31711279"/>
          </a:xfrm>
        </p:spPr>
        <p:txBody>
          <a:bodyPr/>
          <a:lstStyle>
            <a:lvl1pPr>
              <a:defRPr sz="10080"/>
            </a:lvl1pPr>
            <a:lvl2pPr>
              <a:defRPr sz="8820"/>
            </a:lvl2pPr>
            <a:lvl3pPr>
              <a:defRPr sz="7560"/>
            </a:lvl3pPr>
            <a:lvl4pPr>
              <a:defRPr sz="6300"/>
            </a:lvl4pPr>
            <a:lvl5pPr>
              <a:defRPr sz="6300"/>
            </a:lvl5pPr>
            <a:lvl6pPr>
              <a:defRPr sz="6300"/>
            </a:lvl6pPr>
            <a:lvl7pPr>
              <a:defRPr sz="6300"/>
            </a:lvl7pPr>
            <a:lvl8pPr>
              <a:defRPr sz="6300"/>
            </a:lvl8pPr>
            <a:lvl9pPr>
              <a:defRPr sz="63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999" y="2974869"/>
            <a:ext cx="9289911" cy="10412042"/>
          </a:xfrm>
        </p:spPr>
        <p:txBody>
          <a:bodyPr anchor="b"/>
          <a:lstStyle>
            <a:lvl1pPr>
              <a:defRPr sz="10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5281" y="6424901"/>
            <a:ext cx="14581823" cy="31711279"/>
          </a:xfrm>
        </p:spPr>
        <p:txBody>
          <a:bodyPr anchor="t"/>
          <a:lstStyle>
            <a:lvl1pPr marL="0" indent="0">
              <a:buNone/>
              <a:defRPr sz="10080"/>
            </a:lvl1pPr>
            <a:lvl2pPr marL="1440180" indent="0">
              <a:buNone/>
              <a:defRPr sz="8820"/>
            </a:lvl2pPr>
            <a:lvl3pPr marL="2880360" indent="0">
              <a:buNone/>
              <a:defRPr sz="7560"/>
            </a:lvl3pPr>
            <a:lvl4pPr marL="4320540" indent="0">
              <a:buNone/>
              <a:defRPr sz="6300"/>
            </a:lvl4pPr>
            <a:lvl5pPr marL="5760720" indent="0">
              <a:buNone/>
              <a:defRPr sz="6300"/>
            </a:lvl5pPr>
            <a:lvl6pPr marL="7200900" indent="0">
              <a:buNone/>
              <a:defRPr sz="6300"/>
            </a:lvl6pPr>
            <a:lvl7pPr marL="8641080" indent="0">
              <a:buNone/>
              <a:defRPr sz="6300"/>
            </a:lvl7pPr>
            <a:lvl8pPr marL="10081260" indent="0">
              <a:buNone/>
              <a:defRPr sz="6300"/>
            </a:lvl8pPr>
            <a:lvl9pPr marL="11521440" indent="0">
              <a:buNone/>
              <a:defRPr sz="6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999" y="13386912"/>
            <a:ext cx="9289911" cy="24800909"/>
          </a:xfrm>
        </p:spPr>
        <p:txBody>
          <a:bodyPr/>
          <a:lstStyle>
            <a:lvl1pPr marL="0" indent="0">
              <a:buNone/>
              <a:defRPr sz="5040"/>
            </a:lvl1pPr>
            <a:lvl2pPr marL="1440180" indent="0">
              <a:buNone/>
              <a:defRPr sz="4410"/>
            </a:lvl2pPr>
            <a:lvl3pPr marL="2880360" indent="0">
              <a:buNone/>
              <a:defRPr sz="3780"/>
            </a:lvl3pPr>
            <a:lvl4pPr marL="4320540" indent="0">
              <a:buNone/>
              <a:defRPr sz="3150"/>
            </a:lvl4pPr>
            <a:lvl5pPr marL="5760720" indent="0">
              <a:buNone/>
              <a:defRPr sz="3150"/>
            </a:lvl5pPr>
            <a:lvl6pPr marL="7200900" indent="0">
              <a:buNone/>
              <a:defRPr sz="3150"/>
            </a:lvl6pPr>
            <a:lvl7pPr marL="8641080" indent="0">
              <a:buNone/>
              <a:defRPr sz="3150"/>
            </a:lvl7pPr>
            <a:lvl8pPr marL="10081260" indent="0">
              <a:buNone/>
              <a:defRPr sz="3150"/>
            </a:lvl8pPr>
            <a:lvl9pPr marL="11521440" indent="0">
              <a:buNone/>
              <a:defRPr sz="315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2578" y="2375764"/>
            <a:ext cx="6210776" cy="37815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249" y="2375764"/>
            <a:ext cx="18272284" cy="37815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248" y="2375773"/>
            <a:ext cx="24843105" cy="86250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248" y="11878818"/>
            <a:ext cx="24843105" cy="283129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248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5511AC-980B-485A-851E-DBD0B8F4CBAD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1193" y="41358955"/>
            <a:ext cx="9721215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2543" y="41358955"/>
            <a:ext cx="6480810" cy="23757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A2BFA2-7CEB-4D76-9663-917F13DE4B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880360" rtl="0" eaLnBrk="1" latinLnBrk="0" hangingPunct="1">
        <a:lnSpc>
          <a:spcPct val="90000"/>
        </a:lnSpc>
        <a:spcBef>
          <a:spcPct val="0"/>
        </a:spcBef>
        <a:buNone/>
        <a:defRPr sz="13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90" indent="-720090" algn="l" defTabSz="2880360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2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6004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300" kern="1200">
          <a:solidFill>
            <a:schemeClr val="tx1"/>
          </a:solidFill>
          <a:latin typeface="+mn-lt"/>
          <a:ea typeface="+mn-ea"/>
          <a:cs typeface="+mn-cs"/>
        </a:defRPr>
      </a:lvl3pPr>
      <a:lvl4pPr marL="50406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648081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92099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936117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80135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2241530" indent="-720090" algn="l" defTabSz="2880360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1pPr>
      <a:lvl2pPr marL="14401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2pPr>
      <a:lvl3pPr marL="28803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3pPr>
      <a:lvl4pPr marL="43205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4pPr>
      <a:lvl5pPr marL="576072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5pPr>
      <a:lvl6pPr marL="720090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6pPr>
      <a:lvl7pPr marL="864108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7pPr>
      <a:lvl8pPr marL="1008126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8pPr>
      <a:lvl9pPr marL="11521440" algn="l" defTabSz="2880360" rtl="0" eaLnBrk="1" latinLnBrk="0" hangingPunct="1">
        <a:defRPr sz="56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7.webp"/><Relationship Id="rId6" Type="http://schemas.openxmlformats.org/officeDocument/2006/relationships/image" Target="../media/image6.jpeg"/><Relationship Id="rId5" Type="http://schemas.openxmlformats.org/officeDocument/2006/relationships/image" Target="../media/image5.webp"/><Relationship Id="rId4" Type="http://schemas.openxmlformats.org/officeDocument/2006/relationships/image" Target="../media/image4.webp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/>
          <p:nvPr/>
        </p:nvSpPr>
        <p:spPr>
          <a:xfrm>
            <a:off x="1439865" y="6818349"/>
            <a:ext cx="25923875" cy="196850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288036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89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7200" b="1" dirty="0" err="1">
                <a:latin typeface="Times New Roman" panose="02020603050405020304" charset="0"/>
                <a:cs typeface="Times New Roman" panose="02020603050405020304" charset="0"/>
              </a:rPr>
              <a:t>MÔ HÌNH VƯỜN THÔNG MINH</a:t>
            </a:r>
            <a:endParaRPr lang="en-US" sz="72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73706" y="8900202"/>
            <a:ext cx="19256188" cy="59307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NGUYỄN QUANG DUY, NGUYỄN SĨ ĐẠI, NGUYỄN MINH QUÂN, ĐÀO ĐÌNH CHÍ</a:t>
            </a:r>
            <a:endParaRPr lang="en-US" sz="3600" b="1" dirty="0"/>
          </a:p>
        </p:txBody>
      </p:sp>
      <p:sp>
        <p:nvSpPr>
          <p:cNvPr id="7" name="Rectangle 6"/>
          <p:cNvSpPr/>
          <p:nvPr/>
        </p:nvSpPr>
        <p:spPr>
          <a:xfrm>
            <a:off x="4831460" y="9137681"/>
            <a:ext cx="19256188" cy="19685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3200" i="1" dirty="0"/>
          </a:p>
        </p:txBody>
      </p:sp>
      <p:sp>
        <p:nvSpPr>
          <p:cNvPr id="16" name="Text Box 189"/>
          <p:cNvSpPr txBox="1">
            <a:spLocks noChangeArrowheads="1"/>
          </p:cNvSpPr>
          <p:nvPr/>
        </p:nvSpPr>
        <p:spPr bwMode="auto">
          <a:xfrm>
            <a:off x="481330" y="13004800"/>
            <a:ext cx="9074150" cy="1106614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wrap="square"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Trong bối cảnh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ô thị hóa ngày càng nhanh, không gian xanh dần thu hẹp và nhu cầu trồng cây, ch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m sóc cây theo cách thuận tiện, tự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ộng và hiệu quả trở nên cần thiết.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Ý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 t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ởng xây dựng Khu V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ờn Thông Minh (Smart Garden)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ợc hình thành nhằm giải quyết vấn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ề này bằng cách ứng dụng công nghệ IoT và tự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ộng hóa vào nông nghiệp quy mô nhỏ.</a:t>
            </a:r>
            <a:endParaRPr lang="en-US" altLang="en-US" sz="4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0761" y="11659755"/>
            <a:ext cx="9074187" cy="964611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Ý TƯỞNG CHÍNH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9618595" y="26329015"/>
            <a:ext cx="8667640" cy="1007349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CHỨC NĂNG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20" name="Text Box 191"/>
          <p:cNvSpPr txBox="1">
            <a:spLocks noChangeArrowheads="1"/>
          </p:cNvSpPr>
          <p:nvPr/>
        </p:nvSpPr>
        <p:spPr bwMode="auto">
          <a:xfrm>
            <a:off x="19618960" y="27751405"/>
            <a:ext cx="8667750" cy="10247630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sz="5500" dirty="0">
                <a:latin typeface="Times New Roman" panose="02020603050405020304" charset="0"/>
                <a:cs typeface="Times New Roman" panose="02020603050405020304" charset="0"/>
              </a:rPr>
              <a:t>Cảm biến sẽ cảm nhận độ ẩm của đất và tự động tắt/ mở. Tương tự như là về tăng giảm nhiệt độ và độ ẩm, nhiệt độ không khí.</a:t>
            </a: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just" eaLnBrk="1" hangingPunct="1">
              <a:lnSpc>
                <a:spcPct val="150000"/>
              </a:lnSpc>
            </a:pPr>
            <a:endParaRPr lang="en-US" sz="5500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045022" y="11665207"/>
            <a:ext cx="18335070" cy="1002860"/>
          </a:xfrm>
          <a:prstGeom prst="rect">
            <a:avLst/>
          </a:prstGeom>
          <a:solidFill>
            <a:srgbClr val="233F99"/>
          </a:solidFill>
          <a:ln w="57150">
            <a:solidFill>
              <a:srgbClr val="233F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altLang="vi-VN" sz="5400" b="1" dirty="0">
                <a:solidFill>
                  <a:schemeClr val="bg1"/>
                </a:solidFill>
                <a:latin typeface="Calibri (Body)"/>
                <a:ea typeface="Calibri" panose="020F0502020204030204" pitchFamily="34" charset="0"/>
                <a:cs typeface="Calibri" panose="020F0502020204030204" pitchFamily="34" charset="0"/>
              </a:rPr>
              <a:t>MÔ HÌNH MINH HỌA</a:t>
            </a:r>
            <a:endParaRPr lang="en-US" altLang="vi-VN" sz="5400" b="1" dirty="0">
              <a:solidFill>
                <a:schemeClr val="bg1"/>
              </a:solidFill>
              <a:latin typeface="Calibri (Body)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39049" y="24780761"/>
            <a:ext cx="9074187" cy="947416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  <a:latin typeface="Times New Roman" panose="02020603050405020304" charset="0"/>
                <a:cs typeface="Times New Roman" panose="02020603050405020304" charset="0"/>
              </a:rPr>
              <a:t>CÁC THIẾT BỊ SỬ DỤNG</a:t>
            </a:r>
            <a:endParaRPr lang="en-US" sz="5400" b="1" dirty="0">
              <a:solidFill>
                <a:schemeClr val="bg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39015" y="38535331"/>
            <a:ext cx="27821867" cy="959132"/>
          </a:xfrm>
          <a:prstGeom prst="rect">
            <a:avLst/>
          </a:prstGeom>
          <a:solidFill>
            <a:srgbClr val="233F99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6970" tIns="43485" rIns="86970" bIns="43485" rtlCol="0" anchor="ctr"/>
          <a:lstStyle/>
          <a:p>
            <a:pPr algn="ctr"/>
            <a:r>
              <a:rPr lang="en-US" sz="5400" b="1" dirty="0">
                <a:solidFill>
                  <a:schemeClr val="bg1"/>
                </a:solidFill>
              </a:rPr>
              <a:t>KẾT LUẬN</a:t>
            </a:r>
            <a:endParaRPr lang="en-US" sz="5400" b="1" dirty="0">
              <a:solidFill>
                <a:schemeClr val="bg1"/>
              </a:solidFill>
            </a:endParaRPr>
          </a:p>
        </p:txBody>
      </p:sp>
      <p:sp>
        <p:nvSpPr>
          <p:cNvPr id="50" name="Text Box 194"/>
          <p:cNvSpPr txBox="1">
            <a:spLocks noChangeArrowheads="1"/>
          </p:cNvSpPr>
          <p:nvPr/>
        </p:nvSpPr>
        <p:spPr bwMode="auto">
          <a:xfrm>
            <a:off x="539115" y="40025320"/>
            <a:ext cx="27840940" cy="4486275"/>
          </a:xfrm>
          <a:prstGeom prst="rect">
            <a:avLst/>
          </a:prstGeom>
          <a:solidFill>
            <a:schemeClr val="bg1"/>
          </a:solidFill>
          <a:ln w="57150">
            <a:solidFill>
              <a:srgbClr val="233F99"/>
            </a:solidFill>
          </a:ln>
          <a:effectLst/>
        </p:spPr>
        <p:txBody>
          <a:bodyPr lIns="173940" tIns="173940" rIns="173940" bIns="173940">
            <a:noAutofit/>
          </a:bodyPr>
          <a:lstStyle>
            <a:lvl1pPr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lnSpc>
                <a:spcPct val="150000"/>
              </a:lnSpc>
            </a:pP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Mô hình v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ờn thông minh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ã thực hiện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ầy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ủ các chức n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ng giám sát và tự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ộng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iều khiển t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ới n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ớc, nhiệt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 và môi tr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ư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ờng, giúp cây trồng phát triển ổn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ịnh và hiệu quả. Hệ thống cho thấy khả n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ng hoạt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ộng ổn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ịnh, trực quan nhờ các cảm biến và màn hình LCD hiển thị liên tục. Mô hình hoàn toàn có thể mở rộng và ứng dụng vào thực tế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ể hỗ trợ quá trình ch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ă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m sóc cây trồng tự </a:t>
            </a:r>
            <a:r>
              <a:rPr lang="" altLang="en-US" sz="4500" dirty="0">
                <a:latin typeface="Times New Roman" panose="02020603050405020304" charset="0"/>
                <a:cs typeface="Times New Roman" panose="02020603050405020304" charset="0"/>
              </a:rPr>
              <a:t>đ</a:t>
            </a:r>
            <a:r>
              <a:rPr lang="en-US" altLang="en-US" sz="4500" dirty="0">
                <a:latin typeface="Times New Roman" panose="02020603050405020304" charset="0"/>
                <a:cs typeface="Times New Roman" panose="02020603050405020304" charset="0"/>
              </a:rPr>
              <a:t>ộng hóa hơn.</a:t>
            </a:r>
            <a:endParaRPr lang="en-US" altLang="en-US" sz="45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08610" y="10752991"/>
            <a:ext cx="171069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/>
              <a:t>Github: </a:t>
            </a:r>
            <a:endParaRPr lang="en-US" sz="3600"/>
          </a:p>
        </p:txBody>
      </p:sp>
      <p:pic>
        <p:nvPicPr>
          <p:cNvPr id="39" name="Picture 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5744"/>
            <a:ext cx="28803600" cy="6556531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097479" y="280631"/>
            <a:ext cx="8052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TRƯỜNG ĐẠI HỌC ĐẠI NAM</a:t>
            </a:r>
            <a:endParaRPr lang="en-US" sz="4800" b="1">
              <a:solidFill>
                <a:schemeClr val="bg1"/>
              </a:solidFill>
            </a:endParaRPr>
          </a:p>
          <a:p>
            <a:pPr algn="ctr"/>
            <a:r>
              <a:rPr lang="en-US" sz="4800" b="1">
                <a:solidFill>
                  <a:schemeClr val="bg1"/>
                </a:solidFill>
              </a:rPr>
              <a:t>KHOA CÔNG NGHỆ THÔNG TIN</a:t>
            </a:r>
            <a:endParaRPr lang="en-US" sz="4800" b="1">
              <a:solidFill>
                <a:schemeClr val="bg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804400" y="9692640"/>
            <a:ext cx="960120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KHOA CÔNG NGHÊ THÔNG TIN</a:t>
            </a:r>
            <a:br>
              <a:rPr lang="en-US" sz="3500" b="1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3500" b="1" i="1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Dainam</a:t>
            </a:r>
            <a:r>
              <a:rPr lang="en-US" sz="3500" b="1" i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University, Hanoi, Vietnam</a:t>
            </a:r>
            <a:endParaRPr lang="en-US" sz="3500" b="1" i="1" dirty="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9360" y="13038455"/>
            <a:ext cx="18241010" cy="12686030"/>
          </a:xfrm>
          <a:prstGeom prst="rect">
            <a:avLst/>
          </a:prstGeom>
        </p:spPr>
      </p:pic>
      <p:pic>
        <p:nvPicPr>
          <p:cNvPr id="1030" name="Picture 6" descr="Arduino Uno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505" y="27243252"/>
            <a:ext cx="3405351" cy="3405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 Box 25"/>
          <p:cNvSpPr txBox="1"/>
          <p:nvPr/>
        </p:nvSpPr>
        <p:spPr>
          <a:xfrm>
            <a:off x="481330" y="31031180"/>
            <a:ext cx="5577840" cy="7512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ARDUINO UNO</a:t>
            </a:r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7" name="Picture 26"/>
          <p:cNvPicPr/>
          <p:nvPr/>
        </p:nvPicPr>
        <p:blipFill>
          <a:blip r:embed="rId4"/>
          <a:stretch>
            <a:fillRect/>
          </a:stretch>
        </p:blipFill>
        <p:spPr>
          <a:xfrm>
            <a:off x="7470775" y="27363420"/>
            <a:ext cx="2912110" cy="3096895"/>
          </a:xfrm>
          <a:prstGeom prst="rect">
            <a:avLst/>
          </a:prstGeom>
        </p:spPr>
      </p:pic>
      <p:sp>
        <p:nvSpPr>
          <p:cNvPr id="28" name="Text Box 27"/>
          <p:cNvSpPr txBox="1"/>
          <p:nvPr/>
        </p:nvSpPr>
        <p:spPr>
          <a:xfrm>
            <a:off x="6997065" y="31031180"/>
            <a:ext cx="4388485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CẢM BIẾN NHIỆT ĐỘ/ĐỘ ẨM DHT11</a:t>
            </a:r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9" name="Picture 28"/>
          <p:cNvPicPr/>
          <p:nvPr/>
        </p:nvPicPr>
        <p:blipFill>
          <a:blip r:embed="rId5"/>
          <a:stretch>
            <a:fillRect/>
          </a:stretch>
        </p:blipFill>
        <p:spPr>
          <a:xfrm>
            <a:off x="13615035" y="27065605"/>
            <a:ext cx="2771775" cy="3096895"/>
          </a:xfrm>
          <a:prstGeom prst="rect">
            <a:avLst/>
          </a:prstGeom>
        </p:spPr>
      </p:pic>
      <p:sp>
        <p:nvSpPr>
          <p:cNvPr id="30" name="Text Box 29"/>
          <p:cNvSpPr txBox="1"/>
          <p:nvPr/>
        </p:nvSpPr>
        <p:spPr>
          <a:xfrm>
            <a:off x="13013055" y="31104840"/>
            <a:ext cx="96012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CẢM BIẾN ĐỘ ẨM ĐẤT</a:t>
            </a:r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1" name="Picture 30"/>
          <p:cNvPicPr/>
          <p:nvPr/>
        </p:nvPicPr>
        <p:blipFill>
          <a:blip r:embed="rId6"/>
          <a:stretch>
            <a:fillRect/>
          </a:stretch>
        </p:blipFill>
        <p:spPr>
          <a:xfrm>
            <a:off x="1440180" y="32806005"/>
            <a:ext cx="2689860" cy="3572510"/>
          </a:xfrm>
          <a:prstGeom prst="rect">
            <a:avLst/>
          </a:prstGeom>
        </p:spPr>
      </p:pic>
      <p:sp>
        <p:nvSpPr>
          <p:cNvPr id="37" name="Text Box 36"/>
          <p:cNvSpPr txBox="1"/>
          <p:nvPr/>
        </p:nvSpPr>
        <p:spPr>
          <a:xfrm>
            <a:off x="539115" y="36753165"/>
            <a:ext cx="96012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CẢM BIẾN ÁNH SÁNG</a:t>
            </a:r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1" name="Picture 40"/>
          <p:cNvPicPr/>
          <p:nvPr/>
        </p:nvPicPr>
        <p:blipFill>
          <a:blip r:embed="rId7"/>
          <a:stretch>
            <a:fillRect/>
          </a:stretch>
        </p:blipFill>
        <p:spPr>
          <a:xfrm>
            <a:off x="7287895" y="32866965"/>
            <a:ext cx="2516505" cy="3171190"/>
          </a:xfrm>
          <a:prstGeom prst="rect">
            <a:avLst/>
          </a:prstGeom>
        </p:spPr>
      </p:pic>
      <p:sp>
        <p:nvSpPr>
          <p:cNvPr id="42" name="Text Box 41"/>
          <p:cNvSpPr txBox="1"/>
          <p:nvPr/>
        </p:nvSpPr>
        <p:spPr>
          <a:xfrm>
            <a:off x="6785610" y="36753165"/>
            <a:ext cx="9601200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 b="1">
                <a:latin typeface="Times New Roman" panose="02020603050405020304" charset="0"/>
                <a:cs typeface="Times New Roman" panose="02020603050405020304" charset="0"/>
              </a:rPr>
              <a:t>ESP32 CAM</a:t>
            </a:r>
            <a:endParaRPr lang="en-US" sz="35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3" name="Text Box 42"/>
          <p:cNvSpPr txBox="1"/>
          <p:nvPr/>
        </p:nvSpPr>
        <p:spPr>
          <a:xfrm>
            <a:off x="13373100" y="36026725"/>
            <a:ext cx="47212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sz="4000" b="1">
                <a:latin typeface="Times New Roman" panose="02020603050405020304" charset="0"/>
                <a:cs typeface="Times New Roman" panose="02020603050405020304" charset="0"/>
              </a:rPr>
              <a:t>VÀ CÒN NHIỀU THIẾT BỊ KHÁC</a:t>
            </a:r>
            <a:endParaRPr lang="en-US" sz="40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1225</Words>
  <Application>WPS Presentation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Arial</vt:lpstr>
      <vt:lpstr>SimSun</vt:lpstr>
      <vt:lpstr>Wingdings</vt:lpstr>
      <vt:lpstr>Calibri</vt:lpstr>
      <vt:lpstr>Calibri (Body)</vt:lpstr>
      <vt:lpstr>Calibri Light</vt:lpstr>
      <vt:lpstr>Microsoft YaHei</vt:lpstr>
      <vt:lpstr>Arial Unicode MS</vt:lpstr>
      <vt:lpstr>Times New Roman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Thái Khánh Nguyễn</dc:creator>
  <cp:lastModifiedBy>WPS_1724150839</cp:lastModifiedBy>
  <cp:revision>65</cp:revision>
  <dcterms:created xsi:type="dcterms:W3CDTF">2023-07-02T07:57:00Z</dcterms:created>
  <dcterms:modified xsi:type="dcterms:W3CDTF">2025-11-22T15:35:39Z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0206C38836B54FBB99DEEE8852DF048E_12</vt:lpwstr>
  </property>
  <property fmtid="{D5CDD505-2E9C-101B-9397-08002B2CF9AE}" pid="3" name="KSOProductBuildVer">
    <vt:lpwstr>1033-12.2.0.23155</vt:lpwstr>
  </property>
</Properties>
</file>